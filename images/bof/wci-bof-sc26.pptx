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WCI logo" descr="wc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44500"/>
            <a:ext cx="2859688" cy="533400"/>
          </a:xfrm>
          <a:prstGeom prst="rect">
            <a:avLst/>
          </a:prstGeom>
        </p:spPr>
      </p:pic>
      <p:pic>
        <p:nvPicPr>
          <p:cNvPr id="4" name="SC26 logo" descr="sc26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226" y="304800"/>
            <a:ext cx="2032774" cy="952500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508000" y="1308100"/>
            <a:ext cx="571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FF3694"/>
                </a:solidFill>
                <a:latin typeface="Avenir Next"/>
              </a:rPr>
              <a:t>BIRDS OF A FEATHER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08000" y="1524000"/>
            <a:ext cx="9525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500" b="1">
                <a:solidFill>
                  <a:srgbClr val="FFFFFF"/>
                </a:solidFill>
                <a:latin typeface="Avenir Next"/>
              </a:rPr>
              <a:t>Next-Generation Workflows for HPC:</a:t>
            </a:r>
          </a:p>
          <a:p>
            <a:pPr algn="l">
              <a:lnSpc>
                <a:spcPct val="98000"/>
              </a:lnSpc>
            </a:pPr>
            <a:r>
              <a:rPr sz="2500" b="1">
                <a:solidFill>
                  <a:srgbClr val="FFFFFF"/>
                </a:solidFill>
                <a:latin typeface="Avenir Next"/>
              </a:rPr>
              <a:t>AI, Agentic Systems, and Scientific Discovery</a:t>
            </a:r>
          </a:p>
        </p:txBody>
      </p:sp>
      <p:sp>
        <p:nvSpPr>
          <p:cNvPr id="7" name="Stripe 1"/>
          <p:cNvSpPr/>
          <p:nvPr/>
        </p:nvSpPr>
        <p:spPr>
          <a:xfrm>
            <a:off x="508000" y="2324100"/>
            <a:ext cx="317500" cy="38100"/>
          </a:xfrm>
          <a:prstGeom prst="rect">
            <a:avLst/>
          </a:prstGeom>
          <a:solidFill>
            <a:srgbClr val="F48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ipe 2"/>
          <p:cNvSpPr/>
          <p:nvPr/>
        </p:nvSpPr>
        <p:spPr>
          <a:xfrm>
            <a:off x="863600" y="2324100"/>
            <a:ext cx="317500" cy="38100"/>
          </a:xfrm>
          <a:prstGeom prst="rect">
            <a:avLst/>
          </a:prstGeom>
          <a:solidFill>
            <a:srgbClr val="FF3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ipe 3"/>
          <p:cNvSpPr/>
          <p:nvPr/>
        </p:nvSpPr>
        <p:spPr>
          <a:xfrm>
            <a:off x="1219200" y="2324100"/>
            <a:ext cx="317500" cy="38100"/>
          </a:xfrm>
          <a:prstGeom prst="rect">
            <a:avLst/>
          </a:prstGeom>
          <a:solidFill>
            <a:srgbClr val="389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ipe 4"/>
          <p:cNvSpPr/>
          <p:nvPr/>
        </p:nvSpPr>
        <p:spPr>
          <a:xfrm>
            <a:off x="1574800" y="2324100"/>
            <a:ext cx="317500" cy="38100"/>
          </a:xfrm>
          <a:prstGeom prst="rect">
            <a:avLst/>
          </a:prstGeom>
          <a:solidFill>
            <a:srgbClr val="7AA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peakers label"/>
          <p:cNvSpPr txBox="1"/>
          <p:nvPr/>
        </p:nvSpPr>
        <p:spPr>
          <a:xfrm>
            <a:off x="508000" y="3009900"/>
            <a:ext cx="1651000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FF3694"/>
                </a:solidFill>
                <a:latin typeface="Avenir Next"/>
              </a:rPr>
              <a:t>FEATURED</a:t>
            </a:r>
          </a:p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FF3694"/>
                </a:solidFill>
                <a:latin typeface="Avenir Next"/>
              </a:rPr>
              <a:t>SPEAKERS</a:t>
            </a:r>
          </a:p>
        </p:txBody>
      </p:sp>
      <p:pic>
        <p:nvPicPr>
          <p:cNvPr id="12" name="Woong Shin" descr="woo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200" y="2635250"/>
            <a:ext cx="1117600" cy="111760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2559050" y="2578100"/>
            <a:ext cx="1231900" cy="1231900"/>
          </a:xfrm>
          <a:prstGeom prst="ellipse">
            <a:avLst/>
          </a:prstGeom>
          <a:noFill/>
          <a:ln w="31750">
            <a:solidFill>
              <a:srgbClr val="F48C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3750" y="3886200"/>
            <a:ext cx="222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WOONG SHIN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3750" y="4114800"/>
            <a:ext cx="2222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BFD6EE"/>
                </a:solidFill>
                <a:latin typeface="Avenir Next"/>
              </a:rPr>
              <a:t>Oak Ridge National Laboratory</a:t>
            </a:r>
          </a:p>
        </p:txBody>
      </p:sp>
      <p:pic>
        <p:nvPicPr>
          <p:cNvPr id="16" name="Mathew J. Cherukara" descr="cheruka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00" y="2635250"/>
            <a:ext cx="1117600" cy="11176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845050" y="2578100"/>
            <a:ext cx="1231900" cy="1231900"/>
          </a:xfrm>
          <a:prstGeom prst="ellipse">
            <a:avLst/>
          </a:prstGeom>
          <a:noFill/>
          <a:ln w="31750">
            <a:solidFill>
              <a:srgbClr val="FF3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9750" y="3886200"/>
            <a:ext cx="222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MATHEW J. CHERUKARA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9750" y="4114800"/>
            <a:ext cx="2222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BFD6EE"/>
                </a:solidFill>
                <a:latin typeface="Avenir Next"/>
              </a:rPr>
              <a:t>Argonne National Laboratory</a:t>
            </a:r>
          </a:p>
        </p:txBody>
      </p:sp>
      <p:pic>
        <p:nvPicPr>
          <p:cNvPr id="20" name="Matt Sinclair" descr="sincla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8200" y="2635250"/>
            <a:ext cx="1117600" cy="111760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7131050" y="2578100"/>
            <a:ext cx="1231900" cy="1231900"/>
          </a:xfrm>
          <a:prstGeom prst="ellipse">
            <a:avLst/>
          </a:prstGeom>
          <a:noFill/>
          <a:ln w="31750">
            <a:solidFill>
              <a:srgbClr val="389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5750" y="3886200"/>
            <a:ext cx="222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MATT SINCLAIR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5750" y="4114800"/>
            <a:ext cx="2222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BFD6EE"/>
                </a:solidFill>
                <a:latin typeface="Avenir Next"/>
              </a:rPr>
              <a:t>Argonne National Laboratory</a:t>
            </a:r>
          </a:p>
        </p:txBody>
      </p:sp>
      <p:pic>
        <p:nvPicPr>
          <p:cNvPr id="24" name="Logan Ward" descr="w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4200" y="2635250"/>
            <a:ext cx="1117600" cy="111760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9417050" y="2578100"/>
            <a:ext cx="1231900" cy="1231900"/>
          </a:xfrm>
          <a:prstGeom prst="ellipse">
            <a:avLst/>
          </a:prstGeom>
          <a:noFill/>
          <a:ln w="31750">
            <a:solidFill>
              <a:srgbClr val="7AA1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21750" y="3886200"/>
            <a:ext cx="22225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LOGAN 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1750" y="4114800"/>
            <a:ext cx="2222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BFD6EE"/>
                </a:solidFill>
                <a:latin typeface="Avenir Next"/>
              </a:rPr>
              <a:t>NVIDIA</a:t>
            </a:r>
          </a:p>
        </p:txBody>
      </p:sp>
      <p:sp>
        <p:nvSpPr>
          <p:cNvPr id="28" name="Date bar"/>
          <p:cNvSpPr/>
          <p:nvPr/>
        </p:nvSpPr>
        <p:spPr>
          <a:xfrm>
            <a:off x="508000" y="4965700"/>
            <a:ext cx="38100" cy="685800"/>
          </a:xfrm>
          <a:prstGeom prst="rect">
            <a:avLst/>
          </a:prstGeom>
          <a:solidFill>
            <a:srgbClr val="FF36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ate and time"/>
          <p:cNvSpPr txBox="1"/>
          <p:nvPr/>
        </p:nvSpPr>
        <p:spPr>
          <a:xfrm>
            <a:off x="685800" y="4927600"/>
            <a:ext cx="4826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Avenir Next"/>
              </a:rPr>
              <a:t>Tuesday, Nov 17, 2026</a:t>
            </a:r>
          </a:p>
          <a:p>
            <a:pPr algn="l">
              <a:lnSpc>
                <a:spcPct val="108000"/>
              </a:lnSpc>
            </a:pPr>
            <a:r>
              <a:rPr sz="2100" b="0">
                <a:solidFill>
                  <a:srgbClr val="FFFFFF"/>
                </a:solidFill>
                <a:latin typeface="Avenir Next"/>
              </a:rPr>
              <a:t>12:15pm–1:15pm CST</a:t>
            </a:r>
          </a:p>
        </p:txBody>
      </p:sp>
      <p:sp>
        <p:nvSpPr>
          <p:cNvPr id="30" name="Organizers label"/>
          <p:cNvSpPr txBox="1"/>
          <p:nvPr/>
        </p:nvSpPr>
        <p:spPr>
          <a:xfrm>
            <a:off x="7874000" y="4559300"/>
            <a:ext cx="38100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spc="100">
                <a:solidFill>
                  <a:srgbClr val="FF3694"/>
                </a:solidFill>
                <a:latin typeface="Avenir Next"/>
              </a:rPr>
              <a:t>ORGANIZERS</a:t>
            </a:r>
          </a:p>
        </p:txBody>
      </p:sp>
      <p:pic>
        <p:nvPicPr>
          <p:cNvPr id="31" name="Stephen Hudson" descr="huds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0" y="4851400"/>
            <a:ext cx="381000" cy="38100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7842250" y="4819650"/>
            <a:ext cx="444500" cy="444500"/>
          </a:xfrm>
          <a:prstGeom prst="ellipse">
            <a:avLst/>
          </a:prstGeom>
          <a:noFill/>
          <a:ln w="19050">
            <a:solidFill>
              <a:srgbClr val="389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700" y="4870450"/>
            <a:ext cx="3429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venir Next"/>
              </a:rPr>
              <a:t>STEPHEN HUDSON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700" y="5054600"/>
            <a:ext cx="34290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FD6EE"/>
                </a:solidFill>
                <a:latin typeface="Avenir Next"/>
              </a:rPr>
              <a:t>Argonne National Laboratory</a:t>
            </a:r>
          </a:p>
        </p:txBody>
      </p:sp>
      <p:pic>
        <p:nvPicPr>
          <p:cNvPr id="35" name="Daniela Cassol" descr="casso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000" y="5308600"/>
            <a:ext cx="381000" cy="381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7842250" y="5276850"/>
            <a:ext cx="444500" cy="444500"/>
          </a:xfrm>
          <a:prstGeom prst="ellipse">
            <a:avLst/>
          </a:prstGeom>
          <a:noFill/>
          <a:ln w="19050">
            <a:solidFill>
              <a:srgbClr val="389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700" y="5327650"/>
            <a:ext cx="3429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venir Next"/>
              </a:rPr>
              <a:t>DANIELA CASSOL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700" y="5511800"/>
            <a:ext cx="34290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FD6EE"/>
                </a:solidFill>
                <a:latin typeface="Avenir Next"/>
              </a:rPr>
              <a:t>Lawrence Berkeley National Laboratory</a:t>
            </a:r>
          </a:p>
        </p:txBody>
      </p:sp>
      <p:pic>
        <p:nvPicPr>
          <p:cNvPr id="39" name="Kyle Chard" descr="char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000" y="5765800"/>
            <a:ext cx="381000" cy="381000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7842250" y="5734050"/>
            <a:ext cx="444500" cy="444500"/>
          </a:xfrm>
          <a:prstGeom prst="ellipse">
            <a:avLst/>
          </a:prstGeom>
          <a:noFill/>
          <a:ln w="19050">
            <a:solidFill>
              <a:srgbClr val="389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700" y="5784850"/>
            <a:ext cx="3429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venir Next"/>
              </a:rPr>
              <a:t>KYLE CHARD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700" y="5969000"/>
            <a:ext cx="34290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FD6EE"/>
                </a:solidFill>
                <a:latin typeface="Avenir Next"/>
              </a:rPr>
              <a:t>University of Chicago</a:t>
            </a:r>
          </a:p>
        </p:txBody>
      </p:sp>
      <p:pic>
        <p:nvPicPr>
          <p:cNvPr id="43" name="Rafael Ferreira da Silva" descr="silv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74000" y="6223000"/>
            <a:ext cx="381000" cy="381000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7842250" y="6191250"/>
            <a:ext cx="444500" cy="444500"/>
          </a:xfrm>
          <a:prstGeom prst="ellipse">
            <a:avLst/>
          </a:prstGeom>
          <a:noFill/>
          <a:ln w="19050">
            <a:solidFill>
              <a:srgbClr val="389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700" y="6242050"/>
            <a:ext cx="3429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venir Next"/>
              </a:rPr>
              <a:t>RAFAEL FERREIRA DA SILVA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700" y="6426200"/>
            <a:ext cx="34290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FD6EE"/>
                </a:solidFill>
                <a:latin typeface="Avenir Next"/>
              </a:rPr>
              <a:t>Oak Ridge National Laboratory</a:t>
            </a:r>
          </a:p>
        </p:txBody>
      </p:sp>
      <p:pic>
        <p:nvPicPr>
          <p:cNvPr id="47" name="Logo anl" descr="logo-an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8000" y="6305550"/>
            <a:ext cx="1084218" cy="292100"/>
          </a:xfrm>
          <a:prstGeom prst="rect">
            <a:avLst/>
          </a:prstGeom>
        </p:spPr>
      </p:pic>
      <p:pic>
        <p:nvPicPr>
          <p:cNvPr id="48" name="Logo lbnl" descr="logo-lbn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33518" y="6362700"/>
            <a:ext cx="994962" cy="177800"/>
          </a:xfrm>
          <a:prstGeom prst="rect">
            <a:avLst/>
          </a:prstGeom>
        </p:spPr>
      </p:pic>
      <p:pic>
        <p:nvPicPr>
          <p:cNvPr id="49" name="Logo uchicago" descr="logo-uchicag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69780" y="6350000"/>
            <a:ext cx="1005114" cy="203200"/>
          </a:xfrm>
          <a:prstGeom prst="rect">
            <a:avLst/>
          </a:prstGeom>
        </p:spPr>
      </p:pic>
      <p:pic>
        <p:nvPicPr>
          <p:cNvPr id="50" name="Logo ornl" descr="logo-ornl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6194" y="6324600"/>
            <a:ext cx="1057119" cy="254000"/>
          </a:xfrm>
          <a:prstGeom prst="rect">
            <a:avLst/>
          </a:prstGeom>
        </p:spPr>
      </p:pic>
      <p:pic>
        <p:nvPicPr>
          <p:cNvPr id="51" name="Logo nvidia" descr="logo-nvidi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4613" y="6353175"/>
            <a:ext cx="1056666" cy="196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SC26 BoF — Next-Generation Workflows for HPC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